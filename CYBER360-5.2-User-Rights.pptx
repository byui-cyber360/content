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3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strom, Craig" userId="9231af9e-1897-4c08-9c5d-ac4532ae2341" providerId="ADAL" clId="{C1B137FC-312E-4977-9472-B55062C29CD7}"/>
    <pc:docChg chg="modSld">
      <pc:chgData name="Lindstrom, Craig" userId="9231af9e-1897-4c08-9c5d-ac4532ae2341" providerId="ADAL" clId="{C1B137FC-312E-4977-9472-B55062C29CD7}" dt="2026-03-03T14:11:27.841" v="5" actId="20577"/>
      <pc:docMkLst>
        <pc:docMk/>
      </pc:docMkLst>
      <pc:sldChg chg="modSp mod">
        <pc:chgData name="Lindstrom, Craig" userId="9231af9e-1897-4c08-9c5d-ac4532ae2341" providerId="ADAL" clId="{C1B137FC-312E-4977-9472-B55062C29CD7}" dt="2026-03-03T14:11:27.841" v="5" actId="20577"/>
        <pc:sldMkLst>
          <pc:docMk/>
          <pc:sldMk cId="538849350" sldId="262"/>
        </pc:sldMkLst>
        <pc:spChg chg="mod">
          <ac:chgData name="Lindstrom, Craig" userId="9231af9e-1897-4c08-9c5d-ac4532ae2341" providerId="ADAL" clId="{C1B137FC-312E-4977-9472-B55062C29CD7}" dt="2026-03-03T14:11:27.841" v="5" actId="20577"/>
          <ac:spMkLst>
            <pc:docMk/>
            <pc:sldMk cId="538849350" sldId="262"/>
            <ac:spMk id="7" creationId="{729440C3-A558-AF83-79BF-585206231C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08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579A-6906-4E6D-591C-C727DF06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6EAA-227D-5ECA-282E-3A3B3C8A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1069-7D1F-49B9-3F01-D52A9F3A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6067D-C727-84C7-612B-F665F361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4F88-1C59-3F79-931F-4F91F22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7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7B73-4EBE-86E7-DEDC-379A7358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C486F-4B2F-BAA7-822D-AF77A301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AB7C3-5E85-3B9F-4177-A1AF2AB4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E3CD-02DB-7A08-79DC-74CA926D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6A67F-8469-E8AB-D35D-DEC64EA0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1EF5-6F0D-8686-CDD5-7DB43C9F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95E2-3C65-7E01-6223-574BF8FB8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5243-FD59-824D-9801-C6A7FC40A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B0631-5586-E8EE-C280-1DC0A64D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22BC-4356-2E12-5FFC-95893C95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0616-5185-D339-BFDE-0E16B996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FFED-E59B-6D4E-6B64-0F5B746D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BBE6-1C38-6614-EF63-AF608E55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AC2E-A378-9E93-69F7-FF92F43FC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BF240-C80B-E670-B12B-8BCBA850E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0FB7E-A75F-AB8B-3217-710BBB592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C691C-E8A1-E4A4-391E-3EA19AE5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42DC8-1560-8BC0-2128-ACBD5724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BA34-0EA5-98FC-EEAA-0C1A44BA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5818-3C7C-015C-2483-1875C395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3477C-97F9-76B1-065E-300F62DD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CCAE4-3361-9867-C2CA-9F8A178E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ECABF-B7A6-37FC-1091-0A6AE97D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6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2A218-2D68-399E-5303-823F32D1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B3505-96AE-D8F2-469A-F36E9DD1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A2558-EB65-5F2B-4DEB-5E332CDD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9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290A-4FEE-1487-F6FC-15248123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862-968E-6027-1E22-A8421393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75452-B3CD-E4D7-2EEB-4D8E7A55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0F3D6-85F4-16D5-02EC-B52A50D1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DC6C8-71E8-B7D5-9A82-0FA963F3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EBF5B-81ED-5FC8-76EE-E85F459B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7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90C6-958A-8F1E-AAA5-6F70ABB1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2DF14-CA9B-4C85-16D1-AE914D7EB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386B6-C485-3496-A8CD-9C25B60A4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5F565-8080-7E82-246E-1EDDAAC2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12A3F-827C-0539-3AFC-062DDE28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4C84-F522-0893-1790-EF8E720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3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2E9E-93C1-7E84-A4D5-EA127AB4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F1E9B-EE9D-9A7E-EE97-87C838D9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A212-C93A-3075-FD32-156F351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A4E94-35D9-7831-A0BB-9A28BFA4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5BE5-01BB-5041-6101-F169276B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2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370E5-4104-4DF4-CE6F-43777E948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6D81-DFD1-D8AC-EC26-DC055752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7890-E421-871D-9D4F-F7E5B558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3CF4-905B-F31B-69BD-9BEBF900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D2B1C-442A-F5C9-9AEB-F9DE0158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6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1941-0C9F-2373-780E-9153E7306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27A9A-3EED-7C12-0FFF-384113480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FE0D7-D5FB-3326-9483-F1549507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96D4-4A1C-4BBC-AA2B-FD5B7FC395A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CD6E-6B69-E7FF-A8EA-F8E294BD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2DB5A-E75D-49DD-123C-37B6BC85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5E13-EE34-439C-B49B-F0CB75B2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6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1736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B2CF3C-8982-A5D5-05DB-5BF3F09E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6" y="236453"/>
            <a:ext cx="11767127" cy="78773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7FEFD9-5638-352F-A6ED-06F1FDE322D4}"/>
              </a:ext>
            </a:extLst>
          </p:cNvPr>
          <p:cNvCxnSpPr>
            <a:cxnSpLocks/>
          </p:cNvCxnSpPr>
          <p:nvPr userDrawn="1"/>
        </p:nvCxnSpPr>
        <p:spPr>
          <a:xfrm>
            <a:off x="175490" y="1099127"/>
            <a:ext cx="11841020" cy="0"/>
          </a:xfrm>
          <a:prstGeom prst="line">
            <a:avLst/>
          </a:prstGeom>
          <a:ln w="38100">
            <a:solidFill>
              <a:srgbClr val="A13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5C32-408D-8072-82C8-297384424B54}"/>
              </a:ext>
            </a:extLst>
          </p:cNvPr>
          <p:cNvSpPr/>
          <p:nvPr userDrawn="1"/>
        </p:nvSpPr>
        <p:spPr>
          <a:xfrm>
            <a:off x="175492" y="184727"/>
            <a:ext cx="11841018" cy="6493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5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2649-DC6B-3373-A7E6-7F0E103D8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 360: </a:t>
            </a:r>
            <a:br>
              <a:rPr lang="en-US" dirty="0"/>
            </a:br>
            <a:r>
              <a:rPr lang="en-US" dirty="0"/>
              <a:t>Advanced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4D41B-E776-05F2-BE0B-89BB33948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5.2: User Rights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ABB7-0B55-0242-2E51-B3286EE7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5E13-EE34-439C-B49B-F0CB75B28E1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17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B75992-5098-A283-4925-2CCEBB801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163886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Local Security Policy management console</a:t>
            </a:r>
          </a:p>
        </p:txBody>
      </p:sp>
      <p:pic>
        <p:nvPicPr>
          <p:cNvPr id="3" name="Picture 2" descr="A screenshot of secpol.msc">
            <a:extLst>
              <a:ext uri="{FF2B5EF4-FFF2-40B4-BE49-F238E27FC236}">
                <a16:creationId xmlns:a16="http://schemas.microsoft.com/office/drawing/2014/main" id="{18F1AD7D-9AA4-CABA-2192-FD95BCEAD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402" y="2024166"/>
            <a:ext cx="8553450" cy="466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8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FF91-D91E-5A47-D4E9-52360C77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A2DEF-4501-FAEA-A31C-4FDCBD076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326724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Principle of Least Privilege -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7D23F-F3F9-676F-BDEB-E69E1F0AB32C}"/>
              </a:ext>
            </a:extLst>
          </p:cNvPr>
          <p:cNvSpPr txBox="1"/>
          <p:nvPr/>
        </p:nvSpPr>
        <p:spPr>
          <a:xfrm>
            <a:off x="1169187" y="3290539"/>
            <a:ext cx="98818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user needs a privilege to perform a work task, then grant the user that privilege.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user doesn’t need a privilege to perform a task, then don’t grant the privilege.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user needed and was previously granted a privilege, but the associated task is completed and they don’t now need the privilege, then remove the privilege that was granted.</a:t>
            </a:r>
          </a:p>
        </p:txBody>
      </p:sp>
    </p:spTree>
    <p:extLst>
      <p:ext uri="{BB962C8B-B14F-4D97-AF65-F5344CB8AC3E}">
        <p14:creationId xmlns:p14="http://schemas.microsoft.com/office/powerpoint/2010/main" val="119655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E960E-CB4B-546E-A457-484A58EB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2B45BA-6309-D8F6-D552-10D836B4E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431198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Principle of Least Privilege - complexity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889EF-4605-DB73-C7B2-D7E3C4957F48}"/>
              </a:ext>
            </a:extLst>
          </p:cNvPr>
          <p:cNvSpPr txBox="1"/>
          <p:nvPr/>
        </p:nvSpPr>
        <p:spPr>
          <a:xfrm>
            <a:off x="1169187" y="2712903"/>
            <a:ext cx="98818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Privilege management (access management) is difficult to maintain.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dimension: more users </a:t>
            </a:r>
            <a:r>
              <a:rPr lang="en-US" sz="1800" dirty="0">
                <a:latin typeface="Lucida Console" panose="020B0609040504020204" pitchFamily="49" charset="0"/>
              </a:rPr>
              <a:t>→</a:t>
            </a:r>
            <a:r>
              <a:rPr lang="en-US" dirty="0"/>
              <a:t> many complex varieties of granted privileges.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Solutions include group-policy access controls, role-based access controls.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Privilege dimension: more privilege granularities </a:t>
            </a:r>
            <a:r>
              <a:rPr lang="en-US" sz="1800" dirty="0">
                <a:latin typeface="Lucida Console" panose="020B0609040504020204" pitchFamily="49" charset="0"/>
              </a:rPr>
              <a:t>→</a:t>
            </a:r>
            <a:r>
              <a:rPr lang="en-US" dirty="0"/>
              <a:t> complex privilege relationships.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Solutions include rule-based access controls, attribute-based access controls.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0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B718-C7E7-FA57-BD41-E88416DA1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563C74-E990-3B77-1F46-668B8C1F1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326730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Principle of Least Privilege - governance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27281-906B-E8EC-9F0D-DB9DF0665C9C}"/>
              </a:ext>
            </a:extLst>
          </p:cNvPr>
          <p:cNvSpPr txBox="1"/>
          <p:nvPr/>
        </p:nvSpPr>
        <p:spPr>
          <a:xfrm>
            <a:off x="1155059" y="2436726"/>
            <a:ext cx="98818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Strive to balance security and convenience.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governance in an agile enterprise requires rapid access management adjustments.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Continually assess the need for any friction introduced or removed by access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Track metrics that are relevant to the business.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How quickly can a user be authenticated and authorized to be granted a necessary privilege?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After a user no longer requires a privilege, how quickly is the situation verified and the privilege revoked?</a:t>
            </a:r>
          </a:p>
        </p:txBody>
      </p:sp>
    </p:spTree>
    <p:extLst>
      <p:ext uri="{BB962C8B-B14F-4D97-AF65-F5344CB8AC3E}">
        <p14:creationId xmlns:p14="http://schemas.microsoft.com/office/powerpoint/2010/main" val="195972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01A1-FED4-1CA9-551B-CC09B0DC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63CD28-05F6-EAAC-4E88-DBFBCF6B2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1135002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Lucida Console" panose="020B0609040504020204" pitchFamily="49" charset="0"/>
              </a:rPr>
              <a:t>secedit.exe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440C3-A558-AF83-79BF-585206231CA4}"/>
              </a:ext>
            </a:extLst>
          </p:cNvPr>
          <p:cNvSpPr txBox="1"/>
          <p:nvPr/>
        </p:nvSpPr>
        <p:spPr>
          <a:xfrm>
            <a:off x="896185" y="1849724"/>
            <a:ext cx="104550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Legacy Command Prompt utility for working with security settings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following command creates a configuration text file that contains key-value pairs.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keys represent various security privileges.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at each key are lists of </a:t>
            </a:r>
            <a:r>
              <a:rPr lang="en-US" i="1" dirty="0"/>
              <a:t>security identifiers</a:t>
            </a:r>
            <a:r>
              <a:rPr lang="en-US" dirty="0"/>
              <a:t> (SIDs) of the local users and groups which are granted each privilege.</a:t>
            </a:r>
          </a:p>
          <a:p>
            <a:endParaRPr lang="en-US" dirty="0"/>
          </a:p>
          <a:p>
            <a:r>
              <a:rPr lang="en-US" dirty="0" err="1">
                <a:latin typeface="Lucida Console" panose="020B0609040504020204" pitchFamily="49" charset="0"/>
              </a:rPr>
              <a:t>secedit</a:t>
            </a:r>
            <a:r>
              <a:rPr lang="en-US" dirty="0">
                <a:latin typeface="Lucida Console" panose="020B0609040504020204" pitchFamily="49" charset="0"/>
              </a:rPr>
              <a:t> /export /areas USER_RIGHTS /</a:t>
            </a:r>
            <a:r>
              <a:rPr lang="en-US" dirty="0" err="1">
                <a:latin typeface="Lucida Console" panose="020B0609040504020204" pitchFamily="49" charset="0"/>
              </a:rPr>
              <a:t>cfg</a:t>
            </a:r>
            <a:r>
              <a:rPr lang="en-US" dirty="0">
                <a:latin typeface="Lucida Console" panose="020B0609040504020204" pitchFamily="49" charset="0"/>
              </a:rPr>
              <a:t> C:\Temp\</a:t>
            </a:r>
            <a:r>
              <a:rPr lang="en-US">
                <a:latin typeface="Lucida Console" panose="020B0609040504020204" pitchFamily="49" charset="0"/>
              </a:rPr>
              <a:t>secedit.ini</a:t>
            </a:r>
            <a:endParaRPr lang="en-US" dirty="0">
              <a:latin typeface="Lucida Console" panose="020B0609040504020204" pitchFamily="49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another switch option </a:t>
            </a:r>
            <a:r>
              <a:rPr lang="en-US" dirty="0">
                <a:latin typeface="Lucida Console" panose="020B0609040504020204" pitchFamily="49" charset="0"/>
              </a:rPr>
              <a:t>/</a:t>
            </a:r>
            <a:r>
              <a:rPr lang="en-US" dirty="0" err="1">
                <a:latin typeface="Lucida Console" panose="020B0609040504020204" pitchFamily="49" charset="0"/>
              </a:rPr>
              <a:t>mergedpolicy</a:t>
            </a:r>
            <a:r>
              <a:rPr lang="en-US" dirty="0"/>
              <a:t> to the command above to get domain-managed settings along with the locally configured users and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following PowerShell commands translate the security identifier  </a:t>
            </a:r>
            <a:r>
              <a:rPr lang="en-US" dirty="0">
                <a:latin typeface="Lucida Console" panose="020B0609040504020204" pitchFamily="49" charset="0"/>
              </a:rPr>
              <a:t>*S-1-5-19</a:t>
            </a:r>
            <a:r>
              <a:rPr lang="en-US" dirty="0"/>
              <a:t>  into the friendlier name of its user or group:</a:t>
            </a:r>
          </a:p>
          <a:p>
            <a:endParaRPr lang="en-US" dirty="0"/>
          </a:p>
          <a:p>
            <a:r>
              <a:rPr lang="en-US" dirty="0">
                <a:latin typeface="Lucida Console" panose="020B0609040504020204" pitchFamily="49" charset="0"/>
              </a:rPr>
              <a:t>$s=New-Object </a:t>
            </a:r>
            <a:r>
              <a:rPr lang="en-US" dirty="0" err="1">
                <a:latin typeface="Lucida Console" panose="020B0609040504020204" pitchFamily="49" charset="0"/>
              </a:rPr>
              <a:t>System.Security.Principal.SecurityIdentifier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sz="1800" dirty="0">
                <a:latin typeface="Lucida Console" panose="020B0609040504020204" pitchFamily="49" charset="0"/>
              </a:rPr>
              <a:t>'S-1-5-19'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</a:p>
          <a:p>
            <a:r>
              <a:rPr lang="en-US" dirty="0">
                <a:latin typeface="Lucida Console" panose="020B0609040504020204" pitchFamily="49" charset="0"/>
              </a:rPr>
              <a:t>$</a:t>
            </a:r>
            <a:r>
              <a:rPr lang="en-US" dirty="0" err="1">
                <a:latin typeface="Lucida Console" panose="020B0609040504020204" pitchFamily="49" charset="0"/>
              </a:rPr>
              <a:t>s.Translate</a:t>
            </a:r>
            <a:r>
              <a:rPr lang="en-US" dirty="0">
                <a:latin typeface="Lucida Console" panose="020B0609040504020204" pitchFamily="49" charset="0"/>
              </a:rPr>
              <a:t>([</a:t>
            </a:r>
            <a:r>
              <a:rPr lang="en-US" dirty="0" err="1">
                <a:latin typeface="Lucida Console" panose="020B0609040504020204" pitchFamily="49" charset="0"/>
              </a:rPr>
              <a:t>System.Security.Principal.NTAccount</a:t>
            </a:r>
            <a:r>
              <a:rPr lang="en-US" dirty="0">
                <a:latin typeface="Lucida Console" panose="020B0609040504020204" pitchFamily="49" charset="0"/>
              </a:rPr>
              <a:t>]).Value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84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B75992-5098-A283-4925-2CCEBB801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204" y="1497874"/>
            <a:ext cx="11573197" cy="724247"/>
          </a:xfrm>
        </p:spPr>
        <p:txBody>
          <a:bodyPr>
            <a:normAutofit/>
          </a:bodyPr>
          <a:lstStyle/>
          <a:p>
            <a:r>
              <a:rPr lang="en-US" sz="4000" dirty="0"/>
              <a:t>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24E0F-A977-1710-779D-EEB74261AF34}"/>
              </a:ext>
            </a:extLst>
          </p:cNvPr>
          <p:cNvSpPr txBox="1"/>
          <p:nvPr/>
        </p:nvSpPr>
        <p:spPr>
          <a:xfrm>
            <a:off x="1345385" y="3317993"/>
            <a:ext cx="9662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Your next exercise this week explores: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User Rights settings in the Local Security management console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Lucida Console" panose="020B0609040504020204" pitchFamily="49" charset="0"/>
              </a:rPr>
              <a:t>secedit.exe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4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AD0D162-FE0C-45E1-B287-70A400F0FB2D}" vid="{0F85589E-3A92-4CE5-8C4F-6CD4A00841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 360 PPT Template</Template>
  <TotalTime>237</TotalTime>
  <Words>403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Lucida Console</vt:lpstr>
      <vt:lpstr>Office Theme</vt:lpstr>
      <vt:lpstr>CYBER 360:  Advanced Scripting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Talbert, Matthew</dc:creator>
  <cp:lastModifiedBy>Lindstrom, Craig</cp:lastModifiedBy>
  <cp:revision>2</cp:revision>
  <dcterms:created xsi:type="dcterms:W3CDTF">2024-11-19T20:59:13Z</dcterms:created>
  <dcterms:modified xsi:type="dcterms:W3CDTF">2026-03-03T14:11:30Z</dcterms:modified>
</cp:coreProperties>
</file>