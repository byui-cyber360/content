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  <p:sldMasterId id="2147483694" r:id="rId2"/>
  </p:sldMasterIdLst>
  <p:sldIdLst>
    <p:sldId id="290" r:id="rId3"/>
    <p:sldId id="291" r:id="rId4"/>
    <p:sldId id="292" r:id="rId5"/>
    <p:sldId id="293" r:id="rId6"/>
    <p:sldId id="294" r:id="rId7"/>
    <p:sldId id="295" r:id="rId8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3" autoAdjust="0"/>
    <p:restoredTop sz="94660"/>
  </p:normalViewPr>
  <p:slideViewPr>
    <p:cSldViewPr snapToGrid="0">
      <p:cViewPr varScale="1">
        <p:scale>
          <a:sx n="74" d="100"/>
          <a:sy n="74" d="100"/>
        </p:scale>
        <p:origin x="998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microsoft.com/office/2016/11/relationships/changesInfo" Target="changesInfos/changesInfo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ndstrom, Craig" userId="9231af9e-1897-4c08-9c5d-ac4532ae2341" providerId="ADAL" clId="{C1B137FC-312E-4977-9472-B55062C29CD7}"/>
    <pc:docChg chg="modSld">
      <pc:chgData name="Lindstrom, Craig" userId="9231af9e-1897-4c08-9c5d-ac4532ae2341" providerId="ADAL" clId="{C1B137FC-312E-4977-9472-B55062C29CD7}" dt="2026-03-24T13:37:00.166" v="0" actId="729"/>
      <pc:docMkLst>
        <pc:docMk/>
      </pc:docMkLst>
      <pc:sldChg chg="mod modShow">
        <pc:chgData name="Lindstrom, Craig" userId="9231af9e-1897-4c08-9c5d-ac4532ae2341" providerId="ADAL" clId="{C1B137FC-312E-4977-9472-B55062C29CD7}" dt="2026-03-24T13:37:00.166" v="0" actId="729"/>
        <pc:sldMkLst>
          <pc:docMk/>
          <pc:sldMk cId="1173360589" sldId="29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424346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/>
          <p:cNvCxnSpPr/>
          <p:nvPr/>
        </p:nvCxnSpPr>
        <p:spPr bwMode="auto">
          <a:xfrm>
            <a:off x="634999" y="983343"/>
            <a:ext cx="10947401" cy="0"/>
          </a:xfrm>
          <a:prstGeom prst="line">
            <a:avLst/>
          </a:prstGeom>
          <a:solidFill>
            <a:schemeClr val="accent1"/>
          </a:solidFill>
          <a:ln w="317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7" name="Title 10"/>
          <p:cNvSpPr>
            <a:spLocks noGrp="1"/>
          </p:cNvSpPr>
          <p:nvPr>
            <p:ph type="title" hasCustomPrompt="1"/>
          </p:nvPr>
        </p:nvSpPr>
        <p:spPr>
          <a:xfrm>
            <a:off x="533400" y="76200"/>
            <a:ext cx="11049000" cy="907143"/>
          </a:xfrm>
          <a:prstGeom prst="rect">
            <a:avLst/>
          </a:prstGeom>
        </p:spPr>
        <p:txBody>
          <a:bodyPr anchor="ctr" anchorCtr="0"/>
          <a:lstStyle>
            <a:lvl1pPr>
              <a:defRPr sz="2400"/>
            </a:lvl1pPr>
          </a:lstStyle>
          <a:p>
            <a:pPr>
              <a:defRPr/>
            </a:pPr>
            <a:r>
              <a:rPr lang="en-US" sz="220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3703445315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1655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5561D-B949-3649-8DE3-37913D11D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77857422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663EF-3D40-7FF9-6390-00F17F7D89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392760-2C5B-A5E9-50CF-8E0F18C964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22313-72D3-BC48-B6C7-BD28A4B25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24BAF-58C0-4D38-ABA0-4170CC92DC13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A961C9-27D3-9627-AC42-42DA3AE02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512D45-370E-D661-58AD-D3D45A41F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5471E-615E-4FAD-96CF-E230E8BB09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575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1992043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4695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4579A-6906-4E6D-591C-C727DF060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2787" y="1498382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426EAA-227D-5ECA-282E-3A3B3C8AE9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651069-7D1F-49B9-3F01-D52A9F3A6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45249"/>
            <a:ext cx="2743200" cy="365125"/>
          </a:xfrm>
          <a:prstGeom prst="rect">
            <a:avLst/>
          </a:prstGeom>
        </p:spPr>
        <p:txBody>
          <a:bodyPr/>
          <a:lstStyle/>
          <a:p>
            <a:fld id="{71087A05-F855-4434-8DDE-39A8542098A6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56067D-C727-84C7-612B-F665F3617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64F88-1C59-3F79-931F-4F91F22F1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C0014F0-3D1D-4459-A530-32E6C19AE4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4872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67B73-4EBE-86E7-DEDC-379A7358D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DC486F-4B2F-BAA7-822D-AF77A301C3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1AB7C3-5E85-3B9F-4177-A1AF2AB486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45249"/>
            <a:ext cx="2743200" cy="365125"/>
          </a:xfrm>
          <a:prstGeom prst="rect">
            <a:avLst/>
          </a:prstGeom>
        </p:spPr>
        <p:txBody>
          <a:bodyPr/>
          <a:lstStyle/>
          <a:p>
            <a:fld id="{71087A05-F855-4434-8DDE-39A8542098A6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0E3CD-02DB-7A08-79DC-74CA926DE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D6A67F-8469-E8AB-D35D-DEC64EA01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C0014F0-3D1D-4459-A530-32E6C19AE4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239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01EF5-6F0D-8686-CDD5-7DB43C9F6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2787" y="1498382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595E2-3C65-7E01-6223-574BF8FB81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DA5243-FD59-824D-9801-C6A7FC40AD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0B0631-5586-E8EE-C280-1DC0A64D54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45249"/>
            <a:ext cx="2743200" cy="365125"/>
          </a:xfrm>
          <a:prstGeom prst="rect">
            <a:avLst/>
          </a:prstGeom>
        </p:spPr>
        <p:txBody>
          <a:bodyPr/>
          <a:lstStyle/>
          <a:p>
            <a:fld id="{71087A05-F855-4434-8DDE-39A8542098A6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7022BC-4356-2E12-5FFC-95893C953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6F0616-5185-D339-BFDE-0E16B9960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C0014F0-3D1D-4459-A530-32E6C19AE4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7068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DFFED-E59B-6D4E-6B64-0F5B746DE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25BBE6-1C38-6614-EF63-AF608E55C2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39AC2E-A378-9E93-69F7-FF92F43FC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7BF240-C80B-E670-B12B-8BCBA850E0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B0FB7E-A75F-AB8B-3217-710BBB592F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AC691C-E8A1-E4A4-391E-3EA19AE5DF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45249"/>
            <a:ext cx="2743200" cy="365125"/>
          </a:xfrm>
          <a:prstGeom prst="rect">
            <a:avLst/>
          </a:prstGeom>
        </p:spPr>
        <p:txBody>
          <a:bodyPr/>
          <a:lstStyle/>
          <a:p>
            <a:fld id="{71087A05-F855-4434-8DDE-39A8542098A6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742DC8-1560-8BC0-2128-ACBD57240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9CBA34-0EA5-98FC-EEAA-0C1A44BA1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C0014F0-3D1D-4459-A530-32E6C19AE4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3489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F5818-3C7C-015C-2483-1875C395B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2787" y="1498382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23477C-97F9-76B1-065E-300F62DDCF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45249"/>
            <a:ext cx="2743200" cy="365125"/>
          </a:xfrm>
          <a:prstGeom prst="rect">
            <a:avLst/>
          </a:prstGeom>
        </p:spPr>
        <p:txBody>
          <a:bodyPr/>
          <a:lstStyle/>
          <a:p>
            <a:fld id="{71087A05-F855-4434-8DDE-39A8542098A6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5CCAE4-3361-9867-C2CA-9F8A178E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2ECABF-B7A6-37FC-1091-0A6AE97D6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C0014F0-3D1D-4459-A530-32E6C19AE4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4795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C2A218-2D68-399E-5303-823F32D18A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45249"/>
            <a:ext cx="2743200" cy="365125"/>
          </a:xfrm>
          <a:prstGeom prst="rect">
            <a:avLst/>
          </a:prstGeom>
        </p:spPr>
        <p:txBody>
          <a:bodyPr/>
          <a:lstStyle/>
          <a:p>
            <a:fld id="{71087A05-F855-4434-8DDE-39A8542098A6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BB3505-96AE-D8F2-469A-F36E9DD15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BA2558-EB65-5F2B-4DEB-5E332CDDC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C0014F0-3D1D-4459-A530-32E6C19AE4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8489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1290A-4FEE-1487-F6FC-152481239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D49862-968E-6027-1E22-A84213937F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D75452-B3CD-E4D7-2EEB-4D8E7A55BA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10F3D6-85F4-16D5-02EC-B52A50D136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45249"/>
            <a:ext cx="2743200" cy="365125"/>
          </a:xfrm>
          <a:prstGeom prst="rect">
            <a:avLst/>
          </a:prstGeom>
        </p:spPr>
        <p:txBody>
          <a:bodyPr/>
          <a:lstStyle/>
          <a:p>
            <a:fld id="{71087A05-F855-4434-8DDE-39A8542098A6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7DC6C8-71E8-B7D5-9A82-0FA963F35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AEBF5B-81ED-5FC8-76EE-E85F459B2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C0014F0-3D1D-4459-A530-32E6C19AE4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3324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090C6-958A-8F1E-AAA5-6F70ABB1D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02DF14-CA9B-4C85-16D1-AE914D7EB7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9386B6-C485-3496-A8CD-9C25B60A42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D5F565-8080-7E82-246E-1EDDAAC2C2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45249"/>
            <a:ext cx="2743200" cy="365125"/>
          </a:xfrm>
          <a:prstGeom prst="rect">
            <a:avLst/>
          </a:prstGeom>
        </p:spPr>
        <p:txBody>
          <a:bodyPr/>
          <a:lstStyle/>
          <a:p>
            <a:fld id="{71087A05-F855-4434-8DDE-39A8542098A6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E12A3F-827C-0539-3AFC-062DDE283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6B4C84-F522-0893-1790-EF8E720A1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C0014F0-3D1D-4459-A530-32E6C19AE4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2838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92E9E-93C1-7E84-A4D5-EA127AB4B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2787" y="1498382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FF1E9B-EE9D-9A7E-EE97-87C838D9BB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0DA212-C93A-3075-FD32-156F351E64D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45249"/>
            <a:ext cx="2743200" cy="365125"/>
          </a:xfrm>
          <a:prstGeom prst="rect">
            <a:avLst/>
          </a:prstGeom>
        </p:spPr>
        <p:txBody>
          <a:bodyPr/>
          <a:lstStyle/>
          <a:p>
            <a:fld id="{71087A05-F855-4434-8DDE-39A8542098A6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AA4E94-35D9-7831-A0BB-9A28BFA42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0B5BE5-01BB-5041-6101-F169276B2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C0014F0-3D1D-4459-A530-32E6C19AE4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3717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D370E5-4104-4DF4-CE6F-43777E948D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EA6D81-DFD1-D8AC-EC26-DC0557526E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E27890-E421-871D-9D4F-F7E5B558B71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45249"/>
            <a:ext cx="2743200" cy="365125"/>
          </a:xfrm>
          <a:prstGeom prst="rect">
            <a:avLst/>
          </a:prstGeom>
        </p:spPr>
        <p:txBody>
          <a:bodyPr/>
          <a:lstStyle/>
          <a:p>
            <a:fld id="{71087A05-F855-4434-8DDE-39A8542098A6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A93CF4-905B-F31B-69BD-9BEBF9008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BD2B1C-442A-F5C9-9AEB-F9DE01586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C0014F0-3D1D-4459-A530-32E6C19AE4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245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e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0" y="6219260"/>
            <a:ext cx="638629" cy="638740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>
            <a:glow rad="635000">
              <a:srgbClr val="0071B1">
                <a:alpha val="10000"/>
              </a:srgbClr>
            </a:glow>
            <a:outerShdw blurRad="40000" dist="2300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en-US"/>
          </a:p>
        </p:txBody>
      </p:sp>
      <p:pic>
        <p:nvPicPr>
          <p:cNvPr id="6" name="Picture 5" descr="2.5 in monogram white.eps"/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2619" y="6419125"/>
            <a:ext cx="375028" cy="216493"/>
          </a:xfrm>
          <a:prstGeom prst="rect">
            <a:avLst/>
          </a:prstGeom>
          <a:effectLst/>
        </p:spPr>
      </p:pic>
      <p:sp>
        <p:nvSpPr>
          <p:cNvPr id="7" name="TextBox 6"/>
          <p:cNvSpPr txBox="1"/>
          <p:nvPr/>
        </p:nvSpPr>
        <p:spPr>
          <a:xfrm>
            <a:off x="9448800" y="6400800"/>
            <a:ext cx="20508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rgbClr val="FFFFFF"/>
                </a:solidFill>
              </a:rPr>
              <a:t>© Brigham Young University-Idaho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1582400" y="6352401"/>
            <a:ext cx="457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2E941A2C-A4B7-174C-86AB-EEB99EBDE1CD}" type="slidenum">
              <a:rPr lang="en-US" sz="1200" smtClean="0">
                <a:solidFill>
                  <a:schemeClr val="bg1"/>
                </a:solidFill>
              </a:rPr>
              <a:t>‹#›</a:t>
            </a:fld>
            <a:endParaRPr lang="en-US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6318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</p:sldLayoutIdLst>
  <p:transition>
    <p:fade/>
  </p:transition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+mj-lt"/>
          <a:ea typeface="ＭＳ Ｐゴシック" charset="0"/>
          <a:cs typeface="MS PGothic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Arial" pitchFamily="44" charset="0"/>
          <a:ea typeface="ＭＳ Ｐゴシック" charset="0"/>
          <a:cs typeface="MS PGothic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Arial" pitchFamily="44" charset="0"/>
          <a:ea typeface="ＭＳ Ｐゴシック" charset="0"/>
          <a:cs typeface="MS PGothic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Arial" pitchFamily="44" charset="0"/>
          <a:ea typeface="ＭＳ Ｐゴシック" charset="0"/>
          <a:cs typeface="MS PGothic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Arial" pitchFamily="44" charset="0"/>
          <a:ea typeface="ＭＳ Ｐゴシック" charset="0"/>
          <a:cs typeface="MS PGothic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Arial" pitchFamily="44" charset="0"/>
          <a:ea typeface="ＭＳ Ｐゴシック" pitchFamily="44" charset="-128"/>
          <a:cs typeface="ＭＳ Ｐゴシック" pitchFamily="44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Arial" pitchFamily="44" charset="0"/>
          <a:ea typeface="ＭＳ Ｐゴシック" pitchFamily="44" charset="-128"/>
          <a:cs typeface="ＭＳ Ｐゴシック" pitchFamily="44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Arial" pitchFamily="44" charset="0"/>
          <a:ea typeface="ＭＳ Ｐゴシック" pitchFamily="44" charset="-128"/>
          <a:cs typeface="ＭＳ Ｐゴシック" pitchFamily="44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Arial" pitchFamily="44" charset="0"/>
          <a:ea typeface="ＭＳ Ｐゴシック" pitchFamily="44" charset="-128"/>
          <a:cs typeface="ＭＳ Ｐゴシック" pitchFamily="44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606060"/>
        </a:buClr>
        <a:buSzPct val="80000"/>
        <a:buFont typeface="Times" charset="0"/>
        <a:buChar char="•"/>
        <a:defRPr sz="2400">
          <a:solidFill>
            <a:srgbClr val="FFFFFF"/>
          </a:solidFill>
          <a:latin typeface="+mn-lt"/>
          <a:ea typeface="ＭＳ Ｐゴシック" charset="0"/>
          <a:cs typeface="MS PGothic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606060"/>
        </a:buClr>
        <a:buSzPct val="80000"/>
        <a:buFont typeface="Times" charset="0"/>
        <a:buChar char="•"/>
        <a:defRPr sz="2400">
          <a:solidFill>
            <a:srgbClr val="FFFFFF"/>
          </a:solidFill>
          <a:latin typeface="+mn-lt"/>
          <a:ea typeface="MS PGothic" panose="020B0600070205080204" pitchFamily="34" charset="-128"/>
          <a:cs typeface="MS PGothic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606060"/>
        </a:buClr>
        <a:buSzPct val="80000"/>
        <a:buFont typeface="Times" charset="0"/>
        <a:buChar char="•"/>
        <a:defRPr sz="2400">
          <a:solidFill>
            <a:srgbClr val="FFFFFF"/>
          </a:solidFill>
          <a:latin typeface="+mn-lt"/>
          <a:ea typeface="MS PGothic" panose="020B0600070205080204" pitchFamily="34" charset="-128"/>
          <a:cs typeface="MS PGothic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606060"/>
        </a:buClr>
        <a:buSzPct val="80000"/>
        <a:buFont typeface="Times" charset="0"/>
        <a:buChar char="•"/>
        <a:defRPr sz="2400">
          <a:solidFill>
            <a:srgbClr val="FFFFFF"/>
          </a:solidFill>
          <a:latin typeface="+mn-lt"/>
          <a:ea typeface="MS PGothic" panose="020B0600070205080204" pitchFamily="34" charset="-128"/>
          <a:cs typeface="MS PGothic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606060"/>
        </a:buClr>
        <a:buSzPct val="80000"/>
        <a:buFont typeface="Times" charset="0"/>
        <a:buChar char="•"/>
        <a:defRPr sz="2400">
          <a:solidFill>
            <a:srgbClr val="FFFFFF"/>
          </a:solidFill>
          <a:latin typeface="+mn-lt"/>
          <a:ea typeface="MS PGothic" panose="020B0600070205080204" pitchFamily="34" charset="-128"/>
          <a:cs typeface="MS PGothic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1C5696"/>
        </a:buClr>
        <a:buSzPct val="80000"/>
        <a:buFont typeface="Times" pitchFamily="44" charset="0"/>
        <a:buChar char="•"/>
        <a:defRPr sz="24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1C5696"/>
        </a:buClr>
        <a:buSzPct val="80000"/>
        <a:buFont typeface="Times" pitchFamily="44" charset="0"/>
        <a:buChar char="•"/>
        <a:defRPr sz="24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1C5696"/>
        </a:buClr>
        <a:buSzPct val="80000"/>
        <a:buFont typeface="Times" pitchFamily="44" charset="0"/>
        <a:buChar char="•"/>
        <a:defRPr sz="24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rgbClr val="1C5696"/>
        </a:buClr>
        <a:buSzPct val="80000"/>
        <a:buFont typeface="Times" pitchFamily="44" charset="0"/>
        <a:buChar char="•"/>
        <a:defRPr sz="2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EB2CF3C-8982-A5D5-05DB-5BF3F09E24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6" y="236453"/>
            <a:ext cx="11767127" cy="787737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E7FEFD9-5638-352F-A6ED-06F1FDE322D4}"/>
              </a:ext>
            </a:extLst>
          </p:cNvPr>
          <p:cNvCxnSpPr>
            <a:cxnSpLocks/>
          </p:cNvCxnSpPr>
          <p:nvPr userDrawn="1"/>
        </p:nvCxnSpPr>
        <p:spPr>
          <a:xfrm>
            <a:off x="175490" y="1099127"/>
            <a:ext cx="11841020" cy="0"/>
          </a:xfrm>
          <a:prstGeom prst="line">
            <a:avLst/>
          </a:prstGeom>
          <a:ln w="38100">
            <a:solidFill>
              <a:srgbClr val="A13C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910C5C32-408D-8072-82C8-297384424B54}"/>
              </a:ext>
            </a:extLst>
          </p:cNvPr>
          <p:cNvSpPr/>
          <p:nvPr userDrawn="1"/>
        </p:nvSpPr>
        <p:spPr>
          <a:xfrm>
            <a:off x="175492" y="184727"/>
            <a:ext cx="11841018" cy="649316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46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FCA7FD7-E3CD-7A2C-5AF7-2EE59026C9D4}"/>
              </a:ext>
            </a:extLst>
          </p:cNvPr>
          <p:cNvSpPr txBox="1">
            <a:spLocks/>
          </p:cNvSpPr>
          <p:nvPr/>
        </p:nvSpPr>
        <p:spPr>
          <a:xfrm>
            <a:off x="2298938" y="2713936"/>
            <a:ext cx="7594121" cy="715064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dirty="0"/>
              <a:t>CYBER 360: Advanced Scripting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8586CD17-5B17-5D66-987C-05DC748B3FF9}"/>
              </a:ext>
            </a:extLst>
          </p:cNvPr>
          <p:cNvSpPr txBox="1">
            <a:spLocks/>
          </p:cNvSpPr>
          <p:nvPr/>
        </p:nvSpPr>
        <p:spPr>
          <a:xfrm>
            <a:off x="4204997" y="3429000"/>
            <a:ext cx="3782001" cy="49413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lang="en-US" dirty="0"/>
              <a:t>9.2: Authoring Modules</a:t>
            </a:r>
          </a:p>
        </p:txBody>
      </p:sp>
    </p:spTree>
    <p:extLst>
      <p:ext uri="{BB962C8B-B14F-4D97-AF65-F5344CB8AC3E}">
        <p14:creationId xmlns:p14="http://schemas.microsoft.com/office/powerpoint/2010/main" val="3251461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F4FFC57-4A5F-4049-833E-147BCB7DCB3C}"/>
              </a:ext>
            </a:extLst>
          </p:cNvPr>
          <p:cNvSpPr txBox="1">
            <a:spLocks/>
          </p:cNvSpPr>
          <p:nvPr/>
        </p:nvSpPr>
        <p:spPr>
          <a:xfrm>
            <a:off x="3642503" y="1320482"/>
            <a:ext cx="4906993" cy="611835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dirty="0"/>
              <a:t>Module Terminology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7DC0261-9386-BB1C-2085-8653B2A19191}"/>
              </a:ext>
            </a:extLst>
          </p:cNvPr>
          <p:cNvSpPr txBox="1">
            <a:spLocks/>
          </p:cNvSpPr>
          <p:nvPr/>
        </p:nvSpPr>
        <p:spPr>
          <a:xfrm>
            <a:off x="838200" y="2097405"/>
            <a:ext cx="10515600" cy="319921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sz="2000" b="1" i="1" dirty="0"/>
              <a:t>Module Member</a:t>
            </a:r>
            <a:r>
              <a:rPr lang="en-US" sz="2000" dirty="0"/>
              <a:t>: a function, variable, or alias defined inside a module script. Using Export-</a:t>
            </a:r>
            <a:r>
              <a:rPr lang="en-US" sz="2000" dirty="0" err="1"/>
              <a:t>ModuleMember</a:t>
            </a:r>
            <a:r>
              <a:rPr lang="en-US" sz="2000" dirty="0"/>
              <a:t>, a module can control which of its members are made available</a:t>
            </a:r>
          </a:p>
          <a:p>
            <a:pPr fontAlgn="auto">
              <a:spcAft>
                <a:spcPts val="0"/>
              </a:spcAft>
            </a:pPr>
            <a:r>
              <a:rPr lang="en-US" sz="2000" b="1" i="1" dirty="0"/>
              <a:t>Module Manifest</a:t>
            </a:r>
            <a:r>
              <a:rPr lang="en-US" sz="2000" dirty="0"/>
              <a:t>: a data file (it’s actually a PowerShell script with a very limited subset of allowed syntax) that contains information about the module and how it should be loaded.</a:t>
            </a:r>
          </a:p>
          <a:p>
            <a:pPr fontAlgn="auto">
              <a:spcAft>
                <a:spcPts val="0"/>
              </a:spcAft>
            </a:pPr>
            <a:r>
              <a:rPr lang="en-US" sz="2000" b="1" i="1" dirty="0"/>
              <a:t>Module Type</a:t>
            </a:r>
            <a:r>
              <a:rPr lang="en-US" sz="2000" dirty="0"/>
              <a:t>: either </a:t>
            </a:r>
            <a:r>
              <a:rPr lang="en-US" sz="2000" b="1" dirty="0">
                <a:latin typeface="Consolas" panose="020B0609020204030204" pitchFamily="49" charset="0"/>
              </a:rPr>
              <a:t>script</a:t>
            </a:r>
            <a:r>
              <a:rPr lang="en-US" sz="2000" dirty="0"/>
              <a:t>, </a:t>
            </a:r>
            <a:r>
              <a:rPr lang="en-US" sz="2000" b="1" dirty="0">
                <a:latin typeface="Consolas" panose="020B0609020204030204" pitchFamily="49" charset="0"/>
              </a:rPr>
              <a:t>binary</a:t>
            </a:r>
            <a:r>
              <a:rPr lang="en-US" sz="2000" dirty="0"/>
              <a:t>, </a:t>
            </a:r>
            <a:r>
              <a:rPr lang="en-US" sz="2000" b="1" dirty="0">
                <a:latin typeface="Consolas" panose="020B0609020204030204" pitchFamily="49" charset="0"/>
              </a:rPr>
              <a:t>cim</a:t>
            </a:r>
            <a:r>
              <a:rPr lang="en-US" sz="2000" dirty="0"/>
              <a:t>, or </a:t>
            </a:r>
            <a:r>
              <a:rPr lang="en-US" sz="2000" b="1" dirty="0">
                <a:latin typeface="Consolas" panose="020B0609020204030204" pitchFamily="49" charset="0"/>
              </a:rPr>
              <a:t>manifest</a:t>
            </a:r>
            <a:r>
              <a:rPr lang="en-US" sz="2000" dirty="0"/>
              <a:t>. Different PowerShell module types are implemented differently.</a:t>
            </a:r>
          </a:p>
          <a:p>
            <a:pPr fontAlgn="auto">
              <a:spcAft>
                <a:spcPts val="0"/>
              </a:spcAft>
            </a:pPr>
            <a:r>
              <a:rPr lang="en-US" sz="2000" b="1" i="1" dirty="0"/>
              <a:t>Nested Module</a:t>
            </a:r>
            <a:r>
              <a:rPr lang="en-US" sz="2000" dirty="0"/>
              <a:t>: If a module requires some other module as a prerequisite, it can call Import-Module to load it, or it can add it to the </a:t>
            </a:r>
            <a:r>
              <a:rPr lang="en-US" sz="2000" dirty="0" err="1"/>
              <a:t>NestedModules</a:t>
            </a:r>
            <a:r>
              <a:rPr lang="en-US" sz="2000" dirty="0"/>
              <a:t> element of its module manifest. The top-level module in a tree of nested modules is called the </a:t>
            </a:r>
            <a:r>
              <a:rPr lang="en-US" sz="2000" b="1" i="1" dirty="0"/>
              <a:t>Root module</a:t>
            </a:r>
            <a:r>
              <a:rPr lang="en-US" sz="2000" dirty="0"/>
              <a:t>.</a:t>
            </a:r>
          </a:p>
          <a:p>
            <a:pPr fontAlgn="auto">
              <a:spcAft>
                <a:spcPts val="0"/>
              </a:spcAft>
            </a:pPr>
            <a:endParaRPr lang="en-US" sz="20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3AE118A-640B-51EA-D796-7B56645FDA07}"/>
              </a:ext>
            </a:extLst>
          </p:cNvPr>
          <p:cNvSpPr txBox="1">
            <a:spLocks/>
          </p:cNvSpPr>
          <p:nvPr/>
        </p:nvSpPr>
        <p:spPr>
          <a:xfrm>
            <a:off x="6035615" y="7267257"/>
            <a:ext cx="5257800" cy="4208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fontAlgn="auto"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sz="2000" i="1" dirty="0"/>
              <a:t>PowerShell in Action, 3e, p274</a:t>
            </a:r>
          </a:p>
        </p:txBody>
      </p:sp>
    </p:spTree>
    <p:extLst>
      <p:ext uri="{BB962C8B-B14F-4D97-AF65-F5344CB8AC3E}">
        <p14:creationId xmlns:p14="http://schemas.microsoft.com/office/powerpoint/2010/main" val="7101719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F4FFC57-4A5F-4049-833E-147BCB7DCB3C}"/>
              </a:ext>
            </a:extLst>
          </p:cNvPr>
          <p:cNvSpPr txBox="1">
            <a:spLocks/>
          </p:cNvSpPr>
          <p:nvPr/>
        </p:nvSpPr>
        <p:spPr>
          <a:xfrm>
            <a:off x="2633213" y="1305405"/>
            <a:ext cx="6925574" cy="7476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dirty="0"/>
              <a:t>Writing a PowerShell module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7DC0261-9386-BB1C-2085-8653B2A19191}"/>
              </a:ext>
            </a:extLst>
          </p:cNvPr>
          <p:cNvSpPr txBox="1">
            <a:spLocks/>
          </p:cNvSpPr>
          <p:nvPr/>
        </p:nvSpPr>
        <p:spPr>
          <a:xfrm>
            <a:off x="838200" y="2199736"/>
            <a:ext cx="10515600" cy="388506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sz="2000" dirty="0"/>
              <a:t>A module is just a PowerShell script, but it has a </a:t>
            </a:r>
            <a:r>
              <a:rPr lang="en-US" sz="2000" b="1" dirty="0">
                <a:latin typeface="Consolas" panose="020B0609020204030204" pitchFamily="49" charset="0"/>
              </a:rPr>
              <a:t>.psm1</a:t>
            </a:r>
            <a:r>
              <a:rPr lang="en-US" sz="2000" dirty="0"/>
              <a:t> file extension instead of a </a:t>
            </a:r>
            <a:r>
              <a:rPr lang="en-US" sz="2000" b="1" dirty="0">
                <a:latin typeface="Consolas" panose="020B0609020204030204" pitchFamily="49" charset="0"/>
              </a:rPr>
              <a:t>.ps1</a:t>
            </a:r>
            <a:r>
              <a:rPr lang="en-US" sz="2000" dirty="0"/>
              <a:t> extension. Use </a:t>
            </a:r>
            <a:r>
              <a:rPr lang="en-US" sz="2000" b="1" dirty="0">
                <a:latin typeface="Consolas" panose="020B0609020204030204" pitchFamily="49" charset="0"/>
              </a:rPr>
              <a:t>Import-Module</a:t>
            </a:r>
            <a:r>
              <a:rPr lang="en-US" sz="2000" dirty="0"/>
              <a:t> or </a:t>
            </a:r>
            <a:r>
              <a:rPr lang="en-US" sz="2000" b="1" dirty="0">
                <a:latin typeface="Consolas" panose="020B0609020204030204" pitchFamily="49" charset="0"/>
              </a:rPr>
              <a:t>using module</a:t>
            </a:r>
            <a:r>
              <a:rPr lang="en-US" sz="2000" dirty="0"/>
              <a:t> to load a module.</a:t>
            </a:r>
            <a:endParaRPr lang="en-US" sz="2000" b="1" dirty="0">
              <a:latin typeface="Consolas" panose="020B0609020204030204" pitchFamily="49" charset="0"/>
            </a:endParaRPr>
          </a:p>
          <a:p>
            <a:pPr fontAlgn="auto">
              <a:spcAft>
                <a:spcPts val="0"/>
              </a:spcAft>
            </a:pPr>
            <a:r>
              <a:rPr lang="en-US" sz="2000" dirty="0"/>
              <a:t>By default, all functions are exported, but script-scoped variables aren’t. You may use </a:t>
            </a:r>
            <a:r>
              <a:rPr lang="en-US" sz="2000" b="1" dirty="0">
                <a:latin typeface="Consolas" panose="020B0609020204030204" pitchFamily="49" charset="0"/>
              </a:rPr>
              <a:t>Export-</a:t>
            </a:r>
            <a:r>
              <a:rPr lang="en-US" sz="2000" b="1" dirty="0" err="1">
                <a:latin typeface="Consolas" panose="020B0609020204030204" pitchFamily="49" charset="0"/>
              </a:rPr>
              <a:t>ModuleMember</a:t>
            </a:r>
            <a:r>
              <a:rPr lang="en-US" sz="2000" dirty="0"/>
              <a:t> to control which members are exported, but once you use it, </a:t>
            </a:r>
            <a:r>
              <a:rPr lang="en-US" sz="2000" i="1" dirty="0"/>
              <a:t>only</a:t>
            </a:r>
            <a:r>
              <a:rPr lang="en-US" sz="2000" dirty="0"/>
              <a:t> those listed module members are made available (exported).</a:t>
            </a:r>
          </a:p>
          <a:p>
            <a:pPr lvl="1" fontAlgn="auto">
              <a:spcAft>
                <a:spcPts val="0"/>
              </a:spcAft>
            </a:pPr>
            <a:r>
              <a:rPr lang="en-US" sz="2000" dirty="0"/>
              <a:t>Example:</a:t>
            </a:r>
          </a:p>
          <a:p>
            <a:pPr marL="457200" lvl="1"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sz="2000" b="1" dirty="0">
                <a:latin typeface="Consolas" panose="020B0609020204030204" pitchFamily="49" charset="0"/>
              </a:rPr>
              <a:t>Export-</a:t>
            </a:r>
            <a:r>
              <a:rPr lang="en-US" sz="2000" b="1" dirty="0" err="1">
                <a:latin typeface="Consolas" panose="020B0609020204030204" pitchFamily="49" charset="0"/>
              </a:rPr>
              <a:t>ModuleMember</a:t>
            </a:r>
            <a:r>
              <a:rPr lang="en-US" sz="2000" b="1" dirty="0">
                <a:latin typeface="Consolas" panose="020B0609020204030204" pitchFamily="49" charset="0"/>
              </a:rPr>
              <a:t> –Function *-count –Variable increment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8389209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727E7C7-7298-CEE5-49B9-10CD2E876B30}"/>
              </a:ext>
            </a:extLst>
          </p:cNvPr>
          <p:cNvSpPr txBox="1">
            <a:spLocks/>
          </p:cNvSpPr>
          <p:nvPr/>
        </p:nvSpPr>
        <p:spPr>
          <a:xfrm>
            <a:off x="3063095" y="1105378"/>
            <a:ext cx="6065807" cy="675165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dirty="0"/>
              <a:t>About Scopes in Modules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F047AE7-AD63-865A-BD1E-654D5808EEE1}"/>
              </a:ext>
            </a:extLst>
          </p:cNvPr>
          <p:cNvSpPr txBox="1">
            <a:spLocks/>
          </p:cNvSpPr>
          <p:nvPr/>
        </p:nvSpPr>
        <p:spPr>
          <a:xfrm>
            <a:off x="9147007" y="6416685"/>
            <a:ext cx="2912207" cy="32814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fontAlgn="auto"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sz="1600" i="1" dirty="0"/>
              <a:t>PowerShell in Action, 3e, p302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0901A4-D668-4F4E-12DC-24DA929654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611" y="1710165"/>
            <a:ext cx="9522777" cy="4706520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11733605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FFC57-4A5F-4049-833E-147BCB7DCB3C}"/>
              </a:ext>
            </a:extLst>
          </p:cNvPr>
          <p:cNvSpPr txBox="1">
            <a:spLocks/>
          </p:cNvSpPr>
          <p:nvPr/>
        </p:nvSpPr>
        <p:spPr>
          <a:xfrm>
            <a:off x="4076700" y="1276951"/>
            <a:ext cx="4038600" cy="6627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dirty="0"/>
              <a:t>Nested 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DC0261-9386-BB1C-2085-8653B2A19191}"/>
              </a:ext>
            </a:extLst>
          </p:cNvPr>
          <p:cNvSpPr txBox="1">
            <a:spLocks/>
          </p:cNvSpPr>
          <p:nvPr/>
        </p:nvSpPr>
        <p:spPr>
          <a:xfrm>
            <a:off x="838200" y="2021214"/>
            <a:ext cx="10515600" cy="368793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sz="2000" dirty="0"/>
              <a:t>When </a:t>
            </a:r>
            <a:r>
              <a:rPr lang="en-US" sz="2000" b="1" dirty="0">
                <a:latin typeface="Consolas" panose="020B0609020204030204" pitchFamily="49" charset="0"/>
              </a:rPr>
              <a:t>Import-Module</a:t>
            </a:r>
            <a:r>
              <a:rPr lang="en-US" sz="2000" dirty="0"/>
              <a:t> is used from within a module, the imported module becomes a nested module.</a:t>
            </a:r>
          </a:p>
          <a:p>
            <a:pPr lvl="1" fontAlgn="auto">
              <a:spcAft>
                <a:spcPts val="0"/>
              </a:spcAft>
            </a:pPr>
            <a:r>
              <a:rPr lang="en-US" sz="2000" dirty="0"/>
              <a:t>By default, a nested module’s imported functions are only visible from within the module that imported it. Instead of downloading and installing a module, you can download only (don’t install) with the </a:t>
            </a:r>
            <a:r>
              <a:rPr lang="en-US" sz="2000" b="1" dirty="0">
                <a:latin typeface="Consolas" panose="020B0609020204030204" pitchFamily="49" charset="0"/>
              </a:rPr>
              <a:t>Save-Module</a:t>
            </a:r>
            <a:r>
              <a:rPr lang="en-US" sz="2000" dirty="0"/>
              <a:t> cmdlet.</a:t>
            </a:r>
          </a:p>
          <a:p>
            <a:pPr lvl="1" fontAlgn="auto">
              <a:spcAft>
                <a:spcPts val="0"/>
              </a:spcAft>
            </a:pPr>
            <a:r>
              <a:rPr lang="en-US" sz="2000" dirty="0"/>
              <a:t>The module author can override this behavior with a </a:t>
            </a:r>
            <a:r>
              <a:rPr lang="en-US" sz="2000" b="1" dirty="0">
                <a:latin typeface="Consolas" panose="020B0609020204030204" pitchFamily="49" charset="0"/>
              </a:rPr>
              <a:t>–Scope</a:t>
            </a:r>
            <a:r>
              <a:rPr lang="en-US" sz="2000" dirty="0"/>
              <a:t> parameter. Examples:</a:t>
            </a:r>
          </a:p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sz="2000" b="1" dirty="0">
                <a:latin typeface="Consolas" panose="020B0609020204030204" pitchFamily="49" charset="0"/>
              </a:rPr>
              <a:t>Import-Module</a:t>
            </a:r>
            <a:r>
              <a:rPr lang="en-US" sz="2000" dirty="0"/>
              <a:t>  </a:t>
            </a:r>
            <a:r>
              <a:rPr lang="en-US" sz="2000" i="1" dirty="0"/>
              <a:t>&lt;module name&gt;</a:t>
            </a:r>
            <a:r>
              <a:rPr lang="en-US" sz="2000" dirty="0"/>
              <a:t>  </a:t>
            </a:r>
            <a:r>
              <a:rPr lang="en-US" sz="2000" b="1" dirty="0">
                <a:latin typeface="Consolas" panose="020B0609020204030204" pitchFamily="49" charset="0"/>
              </a:rPr>
              <a:t>-Scope global</a:t>
            </a:r>
            <a:r>
              <a:rPr lang="en-US" sz="2000" dirty="0"/>
              <a:t> </a:t>
            </a:r>
          </a:p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sz="2000" b="1" dirty="0">
                <a:latin typeface="Consolas" panose="020B0609020204030204" pitchFamily="49" charset="0"/>
              </a:rPr>
              <a:t>Import-Module</a:t>
            </a:r>
            <a:r>
              <a:rPr lang="en-US" sz="2000" dirty="0"/>
              <a:t>  </a:t>
            </a:r>
            <a:r>
              <a:rPr lang="en-US" sz="2000" i="1" dirty="0"/>
              <a:t>&lt;module name&gt;</a:t>
            </a:r>
            <a:r>
              <a:rPr lang="en-US" sz="2000" dirty="0"/>
              <a:t>  </a:t>
            </a:r>
            <a:r>
              <a:rPr lang="en-US" sz="2000" b="1" dirty="0">
                <a:latin typeface="Consolas" panose="020B0609020204030204" pitchFamily="49" charset="0"/>
              </a:rPr>
              <a:t>-Scope local</a:t>
            </a:r>
            <a:r>
              <a:rPr lang="en-US" sz="2000" dirty="0"/>
              <a:t> </a:t>
            </a:r>
            <a:endParaRPr lang="en-US" sz="2000" b="1" dirty="0">
              <a:latin typeface="Consolas" panose="020B0609020204030204" pitchFamily="49" charset="0"/>
            </a:endParaRPr>
          </a:p>
          <a:p>
            <a:pPr fontAlgn="auto">
              <a:spcAft>
                <a:spcPts val="0"/>
              </a:spcAft>
            </a:pPr>
            <a:r>
              <a:rPr lang="en-US" sz="2000" dirty="0"/>
              <a:t>If </a:t>
            </a:r>
            <a:r>
              <a:rPr lang="en-US" sz="2000" b="1" dirty="0">
                <a:latin typeface="Consolas" panose="020B0609020204030204" pitchFamily="49" charset="0"/>
              </a:rPr>
              <a:t>Import-Module</a:t>
            </a:r>
            <a:r>
              <a:rPr lang="en-US" sz="2000" dirty="0"/>
              <a:t> is called from within a module’s function, its imported members are only available in that function!</a:t>
            </a:r>
          </a:p>
        </p:txBody>
      </p:sp>
    </p:spTree>
    <p:extLst>
      <p:ext uri="{BB962C8B-B14F-4D97-AF65-F5344CB8AC3E}">
        <p14:creationId xmlns:p14="http://schemas.microsoft.com/office/powerpoint/2010/main" val="5982827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4492E64-A68B-8CA7-B3C6-044F7C8E76AB}"/>
              </a:ext>
            </a:extLst>
          </p:cNvPr>
          <p:cNvSpPr txBox="1">
            <a:spLocks/>
          </p:cNvSpPr>
          <p:nvPr/>
        </p:nvSpPr>
        <p:spPr>
          <a:xfrm>
            <a:off x="4972172" y="1235803"/>
            <a:ext cx="2247655" cy="77491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lang="en-US" sz="4400" dirty="0"/>
              <a:t>Exercise</a:t>
            </a:r>
            <a:endParaRPr lang="en-US" sz="5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4A8207-997F-319E-7F6D-676D3ECA779B}"/>
              </a:ext>
            </a:extLst>
          </p:cNvPr>
          <p:cNvSpPr txBox="1"/>
          <p:nvPr/>
        </p:nvSpPr>
        <p:spPr>
          <a:xfrm>
            <a:off x="1268395" y="2010719"/>
            <a:ext cx="965520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For your second exercise this week, you will create a custom module that improves upon PowerShell’s </a:t>
            </a:r>
            <a:r>
              <a:rPr lang="en-US" sz="2000" b="1" dirty="0">
                <a:latin typeface="Consolas" panose="020B0609020204030204" pitchFamily="49" charset="0"/>
              </a:rPr>
              <a:t>Invoke-</a:t>
            </a:r>
            <a:r>
              <a:rPr lang="en-US" sz="2000" b="1" dirty="0" err="1">
                <a:latin typeface="Consolas" panose="020B0609020204030204" pitchFamily="49" charset="0"/>
              </a:rPr>
              <a:t>WebRequest</a:t>
            </a:r>
            <a:r>
              <a:rPr lang="en-US" sz="2000" dirty="0">
                <a:latin typeface="+mn-lt"/>
              </a:rPr>
              <a:t> cmdlet. You will also experiment with script-level scope for a variable in the module, and experiment with exporting module members.</a:t>
            </a:r>
          </a:p>
        </p:txBody>
      </p:sp>
    </p:spTree>
    <p:extLst>
      <p:ext uri="{BB962C8B-B14F-4D97-AF65-F5344CB8AC3E}">
        <p14:creationId xmlns:p14="http://schemas.microsoft.com/office/powerpoint/2010/main" val="1883188397"/>
      </p:ext>
    </p:extLst>
  </p:cSld>
  <p:clrMapOvr>
    <a:masterClrMapping/>
  </p:clrMapOvr>
</p:sld>
</file>

<file path=ppt/theme/theme1.xml><?xml version="1.0" encoding="utf-8"?>
<a:theme xmlns:a="http://schemas.openxmlformats.org/drawingml/2006/main" name="Blue Background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Blank Presentation">
      <a:majorFont>
        <a:latin typeface="Arial"/>
        <a:ea typeface="ＭＳ Ｐゴシック"/>
        <a:cs typeface="ＭＳ Ｐゴシック"/>
      </a:majorFont>
      <a:minorFont>
        <a:latin typeface="Arial"/>
        <a:ea typeface="ＭＳ Ｐゴシック"/>
        <a:cs typeface="ＭＳ Ｐ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itchFamily="44" charset="0"/>
            <a:ea typeface="ＭＳ Ｐゴシック" pitchFamily="44" charset="-128"/>
            <a:cs typeface="ＭＳ Ｐゴシック" pitchFamily="4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itchFamily="44" charset="0"/>
            <a:ea typeface="ＭＳ Ｐゴシック" pitchFamily="44" charset="-128"/>
            <a:cs typeface="ＭＳ Ｐゴシック" pitchFamily="44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Blue Background Theme" id="{2DFDCE93-67F8-4AD8-ADD9-EC0DB44F2AE1}" vid="{8095BF8E-35F9-4086-BB9D-BE8E66B472B4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DAD0D162-FE0C-45E1-B287-70A400F0FB2D}" vid="{0F85589E-3A92-4CE5-8C4F-6CD4A008415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Blue Background Theme</Template>
  <TotalTime>2023</TotalTime>
  <Words>405</Words>
  <Application>Microsoft Office PowerPoint</Application>
  <PresentationFormat>Widescreen</PresentationFormat>
  <Paragraphs>24</Paragraphs>
  <Slides>6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Arial</vt:lpstr>
      <vt:lpstr>Consolas</vt:lpstr>
      <vt:lpstr>Times</vt:lpstr>
      <vt:lpstr>Blue Background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CIT 361/CYBER 360: Advanced Scripting</dc:title>
  <dc:creator>Gibbons, Carl</dc:creator>
  <cp:lastModifiedBy>Lindstrom, Craig</cp:lastModifiedBy>
  <cp:revision>1</cp:revision>
  <dcterms:created xsi:type="dcterms:W3CDTF">2023-11-21T07:23:03Z</dcterms:created>
  <dcterms:modified xsi:type="dcterms:W3CDTF">2026-03-24T13:37:08Z</dcterms:modified>
</cp:coreProperties>
</file>